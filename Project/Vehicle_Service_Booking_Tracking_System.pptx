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28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4.png"/><Relationship Id="rId10" Type="http://schemas.openxmlformats.org/officeDocument/2006/relationships/image" Target="../media/image12.png"/><Relationship Id="rId4" Type="http://schemas.openxmlformats.org/officeDocument/2006/relationships/image" Target="../media/image26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2926080"/>
            <a:ext cx="2926080" cy="2926080"/>
          </a:xfrm>
          <a:prstGeom prst="ellipse">
            <a:avLst/>
          </a:prstGeom>
          <a:solidFill>
            <a:srgbClr val="CFEFF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vsbts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647761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3899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Database Management System</a:t>
            </a:r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Service Booking &amp;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Servicing, Tracking &amp; Billing Platform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" y="3977640"/>
            <a:ext cx="881482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977640"/>
            <a:ext cx="88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94714" y="3977640"/>
            <a:ext cx="796442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94714" y="3977640"/>
            <a:ext cx="796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37460" y="39776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7460" y="3977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35324" y="3977640"/>
            <a:ext cx="626364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35324" y="3977640"/>
            <a:ext cx="6263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07992" y="3977640"/>
            <a:ext cx="2242109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7992" y="3977640"/>
            <a:ext cx="22421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96405" y="3977640"/>
            <a:ext cx="881482" cy="384048"/>
          </a:xfrm>
          <a:prstGeom prst="roundRect">
            <a:avLst>
              <a:gd name="adj" fmla="val 19048"/>
            </a:avLst>
          </a:prstGeom>
          <a:solidFill>
            <a:srgbClr val="1B3A4F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6405" y="3977640"/>
            <a:ext cx="8814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3A4F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239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8680" y="55321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2520090008  —  Sathish Kumar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2520090071  —  Vignesh Kumar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2520090139  —  Shashank Reddy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5257800"/>
            <a:ext cx="0" cy="1051560"/>
          </a:xfrm>
          <a:prstGeom prst="line">
            <a:avLst/>
          </a:prstGeom>
          <a:noFill/>
          <a:ln w="12700">
            <a:solidFill>
              <a:srgbClr val="2549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5239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37960" y="5532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Information Technology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vehicle servicing is largely manual — this creates friction for customers and service centers alike.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7" name="Image 0" descr="/home/claude/vsbts/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964863"/>
            <a:ext cx="294803" cy="2948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65704" y="185623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4A300"/>
          </a:solidFill>
          <a:ln/>
        </p:spPr>
      </p:sp>
      <p:sp>
        <p:nvSpPr>
          <p:cNvPr id="9" name="Text 6"/>
          <p:cNvSpPr/>
          <p:nvPr/>
        </p:nvSpPr>
        <p:spPr>
          <a:xfrm>
            <a:off x="2965704" y="18562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253288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273405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Discovery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13639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&amp; book a suitable service slot at a convenient center.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37304" y="160020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65904" y="182880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5" name="Image 1" descr="/home/claude/vsbts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967" y="1964863"/>
            <a:ext cx="294803" cy="29480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54368" y="185623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4A300"/>
          </a:solidFill>
          <a:ln/>
        </p:spPr>
      </p:sp>
      <p:sp>
        <p:nvSpPr>
          <p:cNvPr id="17" name="Text 13"/>
          <p:cNvSpPr/>
          <p:nvPr/>
        </p:nvSpPr>
        <p:spPr>
          <a:xfrm>
            <a:off x="6754368" y="18562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565904" y="253288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65904" y="273405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Scheduling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65904" y="313639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scheduling causes delays and double-booking conflicts.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25968" y="160020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54568" y="182880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3" name="Image 2" descr="/home/claude/vsbts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631" y="1964863"/>
            <a:ext cx="294803" cy="294803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543032" y="185623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F4A300"/>
          </a:solidFill>
          <a:ln/>
        </p:spPr>
      </p:sp>
      <p:sp>
        <p:nvSpPr>
          <p:cNvPr id="25" name="Text 20"/>
          <p:cNvSpPr/>
          <p:nvPr/>
        </p:nvSpPr>
        <p:spPr>
          <a:xfrm>
            <a:off x="10543032" y="18562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8354568" y="253288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354568" y="273405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Status Visibility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354568" y="313639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know the current status of their vehicle service.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206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443484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1" name="Image 3" descr="/home/claude/vsbts/icons/user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570903"/>
            <a:ext cx="294803" cy="294803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965704" y="446227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/>
        </p:spPr>
      </p:sp>
      <p:sp>
        <p:nvSpPr>
          <p:cNvPr id="33" name="Text 27"/>
          <p:cNvSpPr/>
          <p:nvPr/>
        </p:nvSpPr>
        <p:spPr>
          <a:xfrm>
            <a:off x="2965704" y="44622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777240" y="513892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77240" y="534009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 Allocation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77240" y="574243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the right technician to the right job is hard to manage.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337304" y="4206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65904" y="443484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9" name="Image 4" descr="/home/claude/vsbts/icons/box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967" y="4570903"/>
            <a:ext cx="294803" cy="294803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754368" y="446227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/>
        </p:spPr>
      </p:sp>
      <p:sp>
        <p:nvSpPr>
          <p:cNvPr id="41" name="Text 34"/>
          <p:cNvSpPr/>
          <p:nvPr/>
        </p:nvSpPr>
        <p:spPr>
          <a:xfrm>
            <a:off x="6754368" y="44622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4565904" y="513892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565904" y="534009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Spare Parts Visibility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4565904" y="574243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availability is not tracked, causing rework and delays.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125968" y="4206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354568" y="4434840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7" name="Image 5" descr="/home/claude/vsbts/icons/invo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631" y="4570903"/>
            <a:ext cx="294803" cy="294803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10543032" y="4462272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/>
        </p:spPr>
      </p:sp>
      <p:sp>
        <p:nvSpPr>
          <p:cNvPr id="49" name="Text 41"/>
          <p:cNvSpPr/>
          <p:nvPr/>
        </p:nvSpPr>
        <p:spPr>
          <a:xfrm>
            <a:off x="10543032" y="44622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8354568" y="5138928"/>
            <a:ext cx="3057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8354568" y="5340096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History</a:t>
            </a:r>
            <a:endParaRPr lang="en-US" sz="1500" dirty="0"/>
          </a:p>
        </p:txBody>
      </p:sp>
      <p:sp>
        <p:nvSpPr>
          <p:cNvPr id="52" name="Text 44"/>
          <p:cNvSpPr/>
          <p:nvPr/>
        </p:nvSpPr>
        <p:spPr>
          <a:xfrm>
            <a:off x="8354568" y="5742432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is slow and manual; past service records get lost.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that connects customers, service centers, technicians and payments in one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973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7" name="Image 0" descr="/home/claude/vsbts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20116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book services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5566" y="1600200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10" name="Shape 7"/>
          <p:cNvSpPr/>
          <p:nvPr/>
        </p:nvSpPr>
        <p:spPr>
          <a:xfrm>
            <a:off x="3550158" y="18973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1" name="Image 1" descr="/home/claude/vsbts/icons/map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458" y="20116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7086" y="1600200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center &amp; slot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22492" y="1600200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87084" y="18973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5" name="Image 2" descr="/home/claude/vsbts/icons/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0116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54012" y="1600200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 job-card status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59418" y="1600200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18" name="Shape 13"/>
          <p:cNvSpPr/>
          <p:nvPr/>
        </p:nvSpPr>
        <p:spPr>
          <a:xfrm>
            <a:off x="9224010" y="18973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9" name="Image 3" descr="/home/claude/vsbts/icons/user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310" y="20116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90938" y="1600200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technician allocation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2907792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22" name="Shape 16"/>
          <p:cNvSpPr/>
          <p:nvPr/>
        </p:nvSpPr>
        <p:spPr>
          <a:xfrm>
            <a:off x="713232" y="320497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3" name="Image 4" descr="/home/claude/vsbts/icons/box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" y="331927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2907792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spare-parts inventory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85566" y="2907792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26" name="Shape 19"/>
          <p:cNvSpPr/>
          <p:nvPr/>
        </p:nvSpPr>
        <p:spPr>
          <a:xfrm>
            <a:off x="3550158" y="320497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7" name="Image 5" descr="/home/claude/vsbts/icons/invo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458" y="3319272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17086" y="2907792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bills &amp; invoices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222492" y="2907792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30" name="Shape 22"/>
          <p:cNvSpPr/>
          <p:nvPr/>
        </p:nvSpPr>
        <p:spPr>
          <a:xfrm>
            <a:off x="6387084" y="320497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1" name="Image 6" descr="/home/claude/vsbts/icons/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3319272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54012" y="2907792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payments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9059418" y="2907792"/>
            <a:ext cx="2580894" cy="1051560"/>
          </a:xfrm>
          <a:prstGeom prst="roundRect">
            <a:avLst>
              <a:gd name="adj" fmla="val 7826"/>
            </a:avLst>
          </a:prstGeom>
          <a:solidFill>
            <a:srgbClr val="E7F1F4"/>
          </a:solidFill>
          <a:ln/>
        </p:spPr>
      </p:sp>
      <p:sp>
        <p:nvSpPr>
          <p:cNvPr id="34" name="Shape 25"/>
          <p:cNvSpPr/>
          <p:nvPr/>
        </p:nvSpPr>
        <p:spPr>
          <a:xfrm>
            <a:off x="9224010" y="320497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5" name="Image 7" descr="/home/claude/vsbts/icons/histo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8310" y="3319272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790938" y="2907792"/>
            <a:ext cx="17122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 &amp; reminders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958406" y="4544568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9" name="Image 8" descr="/home/claude/vsbts/icons/us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138" y="4686300"/>
            <a:ext cx="283464" cy="28346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48640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1552766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42" name="Shape 31"/>
          <p:cNvSpPr/>
          <p:nvPr/>
        </p:nvSpPr>
        <p:spPr>
          <a:xfrm>
            <a:off x="2344865" y="454456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3" name="Image 9" descr="/home/claude/vsbts/icons/calend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6597" y="4686300"/>
            <a:ext cx="283464" cy="28346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935099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2939225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46" name="Shape 34"/>
          <p:cNvSpPr/>
          <p:nvPr/>
        </p:nvSpPr>
        <p:spPr>
          <a:xfrm>
            <a:off x="3731324" y="4544568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7" name="Image 10" descr="/home/claude/vsbts/icons/clipboar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3056" y="4686300"/>
            <a:ext cx="283464" cy="28346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3321558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4325684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50" name="Shape 37"/>
          <p:cNvSpPr/>
          <p:nvPr/>
        </p:nvSpPr>
        <p:spPr>
          <a:xfrm>
            <a:off x="5117783" y="454456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1" name="Image 11" descr="/home/claude/vsbts/icons/userc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9515" y="4686300"/>
            <a:ext cx="283464" cy="28346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4708017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5712143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54" name="Shape 40"/>
          <p:cNvSpPr/>
          <p:nvPr/>
        </p:nvSpPr>
        <p:spPr>
          <a:xfrm>
            <a:off x="6504242" y="4544568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55" name="Image 12" descr="/home/claude/vsbts/icons/tool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5974" y="4686300"/>
            <a:ext cx="283464" cy="283464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094476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7098602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58" name="Shape 43"/>
          <p:cNvSpPr/>
          <p:nvPr/>
        </p:nvSpPr>
        <p:spPr>
          <a:xfrm>
            <a:off x="7890701" y="454456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9" name="Image 13" descr="/home/claude/vsbts/icons/invo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2432" y="4686300"/>
            <a:ext cx="283464" cy="28346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7480935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8485060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62" name="Shape 46"/>
          <p:cNvSpPr/>
          <p:nvPr/>
        </p:nvSpPr>
        <p:spPr>
          <a:xfrm>
            <a:off x="9277160" y="4544568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3" name="Image 14" descr="/home/claude/vsbts/icons/car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8891" y="4686300"/>
            <a:ext cx="283464" cy="283464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8867394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9871519" y="4773168"/>
            <a:ext cx="764667" cy="109728"/>
          </a:xfrm>
          <a:prstGeom prst="rightArrow">
            <a:avLst/>
          </a:prstGeom>
          <a:solidFill>
            <a:srgbClr val="8FAAB4"/>
          </a:solidFill>
          <a:ln/>
        </p:spPr>
      </p:sp>
      <p:sp>
        <p:nvSpPr>
          <p:cNvPr id="66" name="Shape 49"/>
          <p:cNvSpPr/>
          <p:nvPr/>
        </p:nvSpPr>
        <p:spPr>
          <a:xfrm>
            <a:off x="10663619" y="454456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7" name="Image 15" descr="/home/claude/vsbts/icons/histo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5351" y="4686300"/>
            <a:ext cx="283464" cy="283464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10253853" y="5166360"/>
            <a:ext cx="138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" name="Image 0" descr="/home/claude/vsbts/icons/list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16934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Catalog &amp; Booking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267712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book services in a few clicks.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1208" y="1371600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2376" y="1572768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vsbts/icons/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077" y="16934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4168" y="1554480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Job-Card Tracking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32376" y="2267712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of service progress.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3776" y="1371600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4944" y="1572768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6" name="Image 2" descr="/home/claude/vsbts/icons/user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645" y="16934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6736" y="1554480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 Allocation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4944" y="2267712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available technicians efficiently.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48584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349752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1" name="Image 3" descr="/home/claude/vsbts/icons/box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4704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331464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Spare Parts Inventory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044696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required &amp; available parts.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1208" y="3148584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2376" y="3349752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6" name="Image 4" descr="/home/claude/vsbts/icons/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3077" y="347045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4168" y="3331464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Billing &amp; Invoice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32376" y="4044696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clear, accurate bills.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3776" y="3148584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4944" y="3349752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1" name="Image 5" descr="/home/claude/vsbts/icons/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645" y="34704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6736" y="3331464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Payment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4944" y="4044696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 powered by Razorpay.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925568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126736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6" name="Image 6" descr="/home/claude/vsbts/icons/his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9" y="5247437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5108448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History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49808" y="5821680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record of past services.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331208" y="4925568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32376" y="5126736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1" name="Image 7" descr="/home/claude/vsbts/icons/be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3077" y="5247437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54168" y="5108448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Reminders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532376" y="5821680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upcoming service needs.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13776" y="4925568"/>
            <a:ext cx="3526536" cy="1520952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14944" y="5126736"/>
            <a:ext cx="502920" cy="50292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6" name="Image 8" descr="/home/claude/vsbts/icons/bo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5645" y="5247437"/>
            <a:ext cx="261518" cy="26151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36736" y="5108448"/>
            <a:ext cx="2520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314944" y="5821680"/>
            <a:ext cx="3115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updates via Firebase (FCM).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5" name="Image 0" descr="/home/claude/vsbts/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4634" y="1288390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4634" y="12883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80160" y="1344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636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or sign in securely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3816" y="1856232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2" name="Image 1" descr="/home/claude/vsbts/icons/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2327148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4634" y="2129638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4634" y="21296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80160" y="21854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Vehicle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24780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vehicle needing service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3816" y="2697480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9" name="Image 2" descr="/home/claude/vsbts/icons/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168396"/>
            <a:ext cx="228600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54634" y="2970886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54634" y="29708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280160" y="30266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Service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80160" y="3319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the full service catalog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13816" y="3538728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6" name="Image 3" descr="/home/claude/vsbts/icons/mapmar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009644"/>
            <a:ext cx="228600" cy="2286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54634" y="3812134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54634" y="38121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280160" y="38679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Center &amp; Slot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280160" y="4160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center, most convenient time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13816" y="4379976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32" name="Shape 26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3" name="Image 4" descr="/home/claude/vsb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850892"/>
            <a:ext cx="228600" cy="2286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54634" y="4653382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54634" y="46533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280160" y="47091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280160" y="5001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 &amp; booking summary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813816" y="5221224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39" name="Shape 32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0" name="Image 5" descr="/home/claude/vsbts/icons/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5692140"/>
            <a:ext cx="228600" cy="2286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54634" y="5494630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54634" y="54946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280160" y="5550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 Creation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1280160" y="58430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job card generated automatically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92240" y="137160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6" name="Image 6" descr="/home/claude/vsbts/icons/userco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6540" y="1485900"/>
            <a:ext cx="228600" cy="22860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6806794" y="1288390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806794" y="12883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7132320" y="1344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Allocation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7132320" y="1636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technician assigned to the job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6665976" y="1856232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52" name="Shape 43"/>
          <p:cNvSpPr/>
          <p:nvPr/>
        </p:nvSpPr>
        <p:spPr>
          <a:xfrm>
            <a:off x="6492240" y="221284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53" name="Image 7" descr="/home/claude/vsbts/icons/wren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540" y="2327148"/>
            <a:ext cx="228600" cy="228600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806794" y="2129638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806794" y="21296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7132320" y="21854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Servicing</a:t>
            </a:r>
            <a:endParaRPr lang="en-US" sz="1300" dirty="0"/>
          </a:p>
        </p:txBody>
      </p:sp>
      <p:sp>
        <p:nvSpPr>
          <p:cNvPr id="57" name="Text 47"/>
          <p:cNvSpPr/>
          <p:nvPr/>
        </p:nvSpPr>
        <p:spPr>
          <a:xfrm>
            <a:off x="7132320" y="24780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begins as per the job card</a:t>
            </a:r>
            <a:endParaRPr lang="en-US" sz="950" dirty="0"/>
          </a:p>
        </p:txBody>
      </p:sp>
      <p:sp>
        <p:nvSpPr>
          <p:cNvPr id="58" name="Shape 48"/>
          <p:cNvSpPr/>
          <p:nvPr/>
        </p:nvSpPr>
        <p:spPr>
          <a:xfrm>
            <a:off x="6665976" y="2697480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59" name="Shape 49"/>
          <p:cNvSpPr/>
          <p:nvPr/>
        </p:nvSpPr>
        <p:spPr>
          <a:xfrm>
            <a:off x="6492240" y="3054096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0" name="Image 8" descr="/home/claude/vsbts/icons/satell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6540" y="3168396"/>
            <a:ext cx="228600" cy="228600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6806794" y="2970886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6806794" y="29708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3" name="Text 52"/>
          <p:cNvSpPr/>
          <p:nvPr/>
        </p:nvSpPr>
        <p:spPr>
          <a:xfrm>
            <a:off x="7132320" y="30266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Updates</a:t>
            </a:r>
            <a:endParaRPr lang="en-US" sz="1300" dirty="0"/>
          </a:p>
        </p:txBody>
      </p:sp>
      <p:sp>
        <p:nvSpPr>
          <p:cNvPr id="64" name="Text 53"/>
          <p:cNvSpPr/>
          <p:nvPr/>
        </p:nvSpPr>
        <p:spPr>
          <a:xfrm>
            <a:off x="7132320" y="3319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pushed via FCM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6665976" y="3538728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66" name="Shape 55"/>
          <p:cNvSpPr/>
          <p:nvPr/>
        </p:nvSpPr>
        <p:spPr>
          <a:xfrm>
            <a:off x="6492240" y="3895344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7" name="Image 9" descr="/home/claude/vsbts/icons/invoi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6540" y="4009644"/>
            <a:ext cx="228600" cy="228600"/>
          </a:xfrm>
          <a:prstGeom prst="rect">
            <a:avLst/>
          </a:prstGeom>
        </p:spPr>
      </p:pic>
      <p:sp>
        <p:nvSpPr>
          <p:cNvPr id="68" name="Shape 56"/>
          <p:cNvSpPr/>
          <p:nvPr/>
        </p:nvSpPr>
        <p:spPr>
          <a:xfrm>
            <a:off x="6806794" y="3812134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6806794" y="381213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0" name="Text 58"/>
          <p:cNvSpPr/>
          <p:nvPr/>
        </p:nvSpPr>
        <p:spPr>
          <a:xfrm>
            <a:off x="7132320" y="38679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</a:t>
            </a:r>
            <a:endParaRPr lang="en-US" sz="1300" dirty="0"/>
          </a:p>
        </p:txBody>
      </p:sp>
      <p:sp>
        <p:nvSpPr>
          <p:cNvPr id="71" name="Text 59"/>
          <p:cNvSpPr/>
          <p:nvPr/>
        </p:nvSpPr>
        <p:spPr>
          <a:xfrm>
            <a:off x="7132320" y="4160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generated, pay securely via Razorpay</a:t>
            </a:r>
            <a:endParaRPr lang="en-US" sz="950" dirty="0"/>
          </a:p>
        </p:txBody>
      </p:sp>
      <p:sp>
        <p:nvSpPr>
          <p:cNvPr id="72" name="Shape 60"/>
          <p:cNvSpPr/>
          <p:nvPr/>
        </p:nvSpPr>
        <p:spPr>
          <a:xfrm>
            <a:off x="6665976" y="4379976"/>
            <a:ext cx="109728" cy="301752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73" name="Shape 61"/>
          <p:cNvSpPr/>
          <p:nvPr/>
        </p:nvSpPr>
        <p:spPr>
          <a:xfrm>
            <a:off x="6492240" y="4736592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74" name="Image 10" descr="/home/claude/vsbts/icons/histor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6540" y="4850892"/>
            <a:ext cx="228600" cy="228600"/>
          </a:xfrm>
          <a:prstGeom prst="rect">
            <a:avLst/>
          </a:prstGeom>
        </p:spPr>
      </p:pic>
      <p:sp>
        <p:nvSpPr>
          <p:cNvPr id="75" name="Shape 62"/>
          <p:cNvSpPr/>
          <p:nvPr/>
        </p:nvSpPr>
        <p:spPr>
          <a:xfrm>
            <a:off x="6806794" y="4653382"/>
            <a:ext cx="237744" cy="237744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Text 63"/>
          <p:cNvSpPr/>
          <p:nvPr/>
        </p:nvSpPr>
        <p:spPr>
          <a:xfrm>
            <a:off x="6806794" y="46533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7" name="Text 64"/>
          <p:cNvSpPr/>
          <p:nvPr/>
        </p:nvSpPr>
        <p:spPr>
          <a:xfrm>
            <a:off x="7132320" y="47091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 &amp; Reminder</a:t>
            </a:r>
            <a:endParaRPr lang="en-US" sz="1300" dirty="0"/>
          </a:p>
        </p:txBody>
      </p:sp>
      <p:sp>
        <p:nvSpPr>
          <p:cNvPr id="78" name="Text 65"/>
          <p:cNvSpPr/>
          <p:nvPr/>
        </p:nvSpPr>
        <p:spPr>
          <a:xfrm>
            <a:off x="7132320" y="5001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for records &amp; future maintenance alerts</a:t>
            </a:r>
            <a:endParaRPr lang="en-US" sz="950" dirty="0"/>
          </a:p>
        </p:txBody>
      </p:sp>
      <p:sp>
        <p:nvSpPr>
          <p:cNvPr id="79" name="Shape 66"/>
          <p:cNvSpPr/>
          <p:nvPr/>
        </p:nvSpPr>
        <p:spPr>
          <a:xfrm>
            <a:off x="548640" y="6099048"/>
            <a:ext cx="11091672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80" name="Text 67"/>
          <p:cNvSpPr/>
          <p:nvPr/>
        </p:nvSpPr>
        <p:spPr>
          <a:xfrm>
            <a:off x="548640" y="6263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81" name="Text 68"/>
          <p:cNvSpPr/>
          <p:nvPr/>
        </p:nvSpPr>
        <p:spPr>
          <a:xfrm>
            <a:off x="1600200" y="6291072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steps, start to finish</a:t>
            </a:r>
            <a:endParaRPr lang="en-US" sz="1000" dirty="0"/>
          </a:p>
        </p:txBody>
      </p:sp>
      <p:sp>
        <p:nvSpPr>
          <p:cNvPr id="82" name="Text 69"/>
          <p:cNvSpPr/>
          <p:nvPr/>
        </p:nvSpPr>
        <p:spPr>
          <a:xfrm>
            <a:off x="4245864" y="6263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3" name="Text 70"/>
          <p:cNvSpPr/>
          <p:nvPr/>
        </p:nvSpPr>
        <p:spPr>
          <a:xfrm>
            <a:off x="5297424" y="6291072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kept in sync — customer, technician, admin</a:t>
            </a:r>
            <a:endParaRPr lang="en-US" sz="1000" dirty="0"/>
          </a:p>
        </p:txBody>
      </p:sp>
      <p:sp>
        <p:nvSpPr>
          <p:cNvPr id="84" name="Text 71"/>
          <p:cNvSpPr/>
          <p:nvPr/>
        </p:nvSpPr>
        <p:spPr>
          <a:xfrm>
            <a:off x="7943088" y="6263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85" name="Text 72"/>
          <p:cNvSpPr/>
          <p:nvPr/>
        </p:nvSpPr>
        <p:spPr>
          <a:xfrm>
            <a:off x="8994648" y="6291072"/>
            <a:ext cx="2508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— zero paperwork end to end</a:t>
            </a:r>
            <a:endParaRPr lang="en-US" sz="1000" dirty="0"/>
          </a:p>
        </p:txBody>
      </p:sp>
      <p:sp>
        <p:nvSpPr>
          <p:cNvPr id="86" name="Text 73"/>
          <p:cNvSpPr/>
          <p:nvPr/>
        </p:nvSpPr>
        <p:spPr>
          <a:xfrm>
            <a:off x="4160520" y="5440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CFEF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interface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3268" y="170992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8" name="Image 0" descr="/home/claude/vsbts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8242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3228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993124" y="170992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1" name="Image 1" descr="/home/claude/vsbts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8242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73084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66460" y="2862072"/>
            <a:ext cx="256032" cy="265176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31546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3293D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68680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REST APIs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03292" y="3447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vsbts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592" y="356158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83252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283196" y="3447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vsbts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356158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3156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63100" y="3447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vsbts/icons/list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356158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43060" y="3977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966460" y="4599432"/>
            <a:ext cx="256032" cy="265176"/>
          </a:xfrm>
          <a:prstGeom prst="downArrow">
            <a:avLst/>
          </a:prstGeom>
          <a:solidFill>
            <a:srgbClr val="8FAAB4"/>
          </a:solidFill>
          <a:ln/>
        </p:spPr>
      </p:sp>
      <p:sp>
        <p:nvSpPr>
          <p:cNvPr id="27" name="Shape 20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3A4F"/>
          </a:solidFill>
          <a:ln/>
        </p:spPr>
      </p:sp>
      <p:sp>
        <p:nvSpPr>
          <p:cNvPr id="28" name="Text 21"/>
          <p:cNvSpPr/>
          <p:nvPr/>
        </p:nvSpPr>
        <p:spPr>
          <a:xfrm>
            <a:off x="868680" y="5056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SERVICES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68680" y="5422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notifications &amp; payments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03292" y="5184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vsbts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7592" y="5298948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683252" y="5715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283196" y="5184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/home/claude/vsbts/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7496" y="5298948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63156" y="5715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9563100" y="5184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/home/claude/vsbts/icons/c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7400" y="5298948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243060" y="5715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329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349240" cy="50292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vsbts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7209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5179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Module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08760" y="1874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track &amp; manage your service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2560320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2" name="Image 1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" y="2608966"/>
            <a:ext cx="158740" cy="1587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2144" y="250545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3127248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5" name="Image 2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" y="3175894"/>
            <a:ext cx="158740" cy="1587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307238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Vehicles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3694176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8" name="Image 3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" y="3742822"/>
            <a:ext cx="158740" cy="1587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52144" y="363931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Services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22960" y="4261104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1" name="Image 4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" y="4309750"/>
            <a:ext cx="158740" cy="1587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52144" y="42062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 Slots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22960" y="4828032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4" name="Image 5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6" y="4876678"/>
            <a:ext cx="158740" cy="1587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52144" y="47731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Job-Card Status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337560" y="2560320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7" name="Image 6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6" y="2608966"/>
            <a:ext cx="158740" cy="1587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66744" y="250545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3337560" y="3127248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0" name="Image 7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6" y="3175894"/>
            <a:ext cx="158740" cy="1587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666744" y="307238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3337560" y="3694176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3" name="Image 8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6" y="3742822"/>
            <a:ext cx="158740" cy="1587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666744" y="363931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Invoices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3337560" y="4261104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6" name="Image 9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6" y="4309750"/>
            <a:ext cx="158740" cy="15874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666744" y="42062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3337560" y="4828032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9" name="Image 10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206" y="4876678"/>
            <a:ext cx="158740" cy="15874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666744" y="47731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Reminders</a:t>
            </a:r>
            <a:endParaRPr lang="en-US" sz="1050" dirty="0"/>
          </a:p>
        </p:txBody>
      </p:sp>
      <p:sp>
        <p:nvSpPr>
          <p:cNvPr id="41" name="Shape 28"/>
          <p:cNvSpPr/>
          <p:nvPr/>
        </p:nvSpPr>
        <p:spPr>
          <a:xfrm>
            <a:off x="822960" y="544068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F3F8FA"/>
          </a:solidFill>
          <a:ln/>
        </p:spPr>
      </p:sp>
      <p:sp>
        <p:nvSpPr>
          <p:cNvPr id="42" name="Text 29"/>
          <p:cNvSpPr/>
          <p:nvPr/>
        </p:nvSpPr>
        <p:spPr>
          <a:xfrm>
            <a:off x="1005840" y="5440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3" name="Shape 30"/>
          <p:cNvSpPr/>
          <p:nvPr/>
        </p:nvSpPr>
        <p:spPr>
          <a:xfrm>
            <a:off x="2057400" y="5577840"/>
            <a:ext cx="0" cy="50292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2240280" y="5550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capabilities</a:t>
            </a:r>
            <a:endParaRPr lang="en-US" sz="1050" dirty="0"/>
          </a:p>
        </p:txBody>
      </p:sp>
      <p:sp>
        <p:nvSpPr>
          <p:cNvPr id="45" name="Text 32"/>
          <p:cNvSpPr/>
          <p:nvPr/>
        </p:nvSpPr>
        <p:spPr>
          <a:xfrm>
            <a:off x="2240280" y="5806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customer needs, from booking to payment.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6126480" y="1371600"/>
            <a:ext cx="5513832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6126480" y="1371600"/>
            <a:ext cx="5513832" cy="960120"/>
          </a:xfrm>
          <a:prstGeom prst="roundRect">
            <a:avLst>
              <a:gd name="adj" fmla="val 8571"/>
            </a:avLst>
          </a:prstGeom>
          <a:solidFill>
            <a:srgbClr val="F4A300"/>
          </a:solidFill>
          <a:ln/>
        </p:spPr>
      </p:sp>
      <p:sp>
        <p:nvSpPr>
          <p:cNvPr id="48" name="Shape 35"/>
          <p:cNvSpPr/>
          <p:nvPr/>
        </p:nvSpPr>
        <p:spPr>
          <a:xfrm>
            <a:off x="6126480" y="1828800"/>
            <a:ext cx="5513832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9" name="Shape 36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11" descr="/home/claude/vsbts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720901"/>
            <a:ext cx="261518" cy="26151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086600" y="151790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Center / Admin</a:t>
            </a:r>
            <a:endParaRPr lang="en-US" sz="1700" dirty="0"/>
          </a:p>
        </p:txBody>
      </p:sp>
      <p:sp>
        <p:nvSpPr>
          <p:cNvPr id="52" name="Text 38"/>
          <p:cNvSpPr/>
          <p:nvPr/>
        </p:nvSpPr>
        <p:spPr>
          <a:xfrm>
            <a:off x="7086600" y="187452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Operate, allocate &amp; fulfil services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6400800" y="2560320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54" name="Image 12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2608966"/>
            <a:ext cx="158740" cy="15874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729984" y="2505456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 Catalog</a:t>
            </a:r>
            <a:endParaRPr lang="en-US" sz="1050" dirty="0"/>
          </a:p>
        </p:txBody>
      </p:sp>
      <p:sp>
        <p:nvSpPr>
          <p:cNvPr id="56" name="Shape 41"/>
          <p:cNvSpPr/>
          <p:nvPr/>
        </p:nvSpPr>
        <p:spPr>
          <a:xfrm>
            <a:off x="6400800" y="3346704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57" name="Image 13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3395350"/>
            <a:ext cx="158740" cy="15874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729984" y="329184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</a:t>
            </a:r>
            <a:endParaRPr lang="en-US" sz="1050" dirty="0"/>
          </a:p>
        </p:txBody>
      </p:sp>
      <p:sp>
        <p:nvSpPr>
          <p:cNvPr id="59" name="Shape 43"/>
          <p:cNvSpPr/>
          <p:nvPr/>
        </p:nvSpPr>
        <p:spPr>
          <a:xfrm>
            <a:off x="6400800" y="4133088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60" name="Image 14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4181734"/>
            <a:ext cx="158740" cy="158740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6729984" y="4078224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Cards</a:t>
            </a:r>
            <a:endParaRPr lang="en-US" sz="1050" dirty="0"/>
          </a:p>
        </p:txBody>
      </p:sp>
      <p:sp>
        <p:nvSpPr>
          <p:cNvPr id="62" name="Shape 45"/>
          <p:cNvSpPr/>
          <p:nvPr/>
        </p:nvSpPr>
        <p:spPr>
          <a:xfrm>
            <a:off x="6400800" y="4919472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63" name="Image 15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4968118"/>
            <a:ext cx="158740" cy="158740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6729984" y="486460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Technicians</a:t>
            </a:r>
            <a:endParaRPr lang="en-US" sz="1050" dirty="0"/>
          </a:p>
        </p:txBody>
      </p:sp>
      <p:sp>
        <p:nvSpPr>
          <p:cNvPr id="65" name="Shape 47"/>
          <p:cNvSpPr/>
          <p:nvPr/>
        </p:nvSpPr>
        <p:spPr>
          <a:xfrm>
            <a:off x="8997696" y="2560320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66" name="Image 16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342" y="2608966"/>
            <a:ext cx="158740" cy="158740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9326880" y="2505456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Service Status</a:t>
            </a:r>
            <a:endParaRPr lang="en-US" sz="1050" dirty="0"/>
          </a:p>
        </p:txBody>
      </p:sp>
      <p:sp>
        <p:nvSpPr>
          <p:cNvPr id="68" name="Shape 49"/>
          <p:cNvSpPr/>
          <p:nvPr/>
        </p:nvSpPr>
        <p:spPr>
          <a:xfrm>
            <a:off x="8997696" y="3346704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69" name="Image 17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342" y="3395350"/>
            <a:ext cx="158740" cy="158740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9326880" y="329184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Spare Parts</a:t>
            </a:r>
            <a:endParaRPr lang="en-US" sz="1050" dirty="0"/>
          </a:p>
        </p:txBody>
      </p:sp>
      <p:sp>
        <p:nvSpPr>
          <p:cNvPr id="71" name="Shape 51"/>
          <p:cNvSpPr/>
          <p:nvPr/>
        </p:nvSpPr>
        <p:spPr>
          <a:xfrm>
            <a:off x="8997696" y="4133088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72" name="Image 18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342" y="4181734"/>
            <a:ext cx="158740" cy="158740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9326880" y="4078224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Bills / Invoices</a:t>
            </a:r>
            <a:endParaRPr lang="en-US" sz="1050" dirty="0"/>
          </a:p>
        </p:txBody>
      </p:sp>
      <p:sp>
        <p:nvSpPr>
          <p:cNvPr id="74" name="Shape 53"/>
          <p:cNvSpPr/>
          <p:nvPr/>
        </p:nvSpPr>
        <p:spPr>
          <a:xfrm>
            <a:off x="8997696" y="4919472"/>
            <a:ext cx="256032" cy="256032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75" name="Image 19" descr="/home/claude/vsb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342" y="4968118"/>
            <a:ext cx="158740" cy="158740"/>
          </a:xfrm>
          <a:prstGeom prst="rect">
            <a:avLst/>
          </a:prstGeom>
        </p:spPr>
      </p:pic>
      <p:sp>
        <p:nvSpPr>
          <p:cNvPr id="76" name="Text 54"/>
          <p:cNvSpPr/>
          <p:nvPr/>
        </p:nvSpPr>
        <p:spPr>
          <a:xfrm>
            <a:off x="9326880" y="486460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Service History</a:t>
            </a:r>
            <a:endParaRPr lang="en-US" sz="1050" dirty="0"/>
          </a:p>
        </p:txBody>
      </p:sp>
      <p:sp>
        <p:nvSpPr>
          <p:cNvPr id="77" name="Shape 55"/>
          <p:cNvSpPr/>
          <p:nvPr/>
        </p:nvSpPr>
        <p:spPr>
          <a:xfrm>
            <a:off x="6400800" y="5440680"/>
            <a:ext cx="4965192" cy="777240"/>
          </a:xfrm>
          <a:prstGeom prst="roundRect">
            <a:avLst>
              <a:gd name="adj" fmla="val 9412"/>
            </a:avLst>
          </a:prstGeom>
          <a:solidFill>
            <a:srgbClr val="F3F8FA"/>
          </a:solidFill>
          <a:ln/>
        </p:spPr>
      </p:sp>
      <p:sp>
        <p:nvSpPr>
          <p:cNvPr id="78" name="Text 56"/>
          <p:cNvSpPr/>
          <p:nvPr/>
        </p:nvSpPr>
        <p:spPr>
          <a:xfrm>
            <a:off x="6583680" y="5440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79" name="Shape 57"/>
          <p:cNvSpPr/>
          <p:nvPr/>
        </p:nvSpPr>
        <p:spPr>
          <a:xfrm>
            <a:off x="7635240" y="5577840"/>
            <a:ext cx="0" cy="50292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80" name="Text 58"/>
          <p:cNvSpPr/>
          <p:nvPr/>
        </p:nvSpPr>
        <p:spPr>
          <a:xfrm>
            <a:off x="7818120" y="5550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capabilities</a:t>
            </a:r>
            <a:endParaRPr lang="en-US" sz="1050" dirty="0"/>
          </a:p>
        </p:txBody>
      </p:sp>
      <p:sp>
        <p:nvSpPr>
          <p:cNvPr id="81" name="Text 59"/>
          <p:cNvSpPr/>
          <p:nvPr/>
        </p:nvSpPr>
        <p:spPr>
          <a:xfrm>
            <a:off x="7818120" y="580644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to run the entire service center.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SYSTEM?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Features &amp; Innovation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project apart from a basic vehicle-booking application.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64767" y="18013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/home/claude/vsbts/icons/satel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7" y="19385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5146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Job-Card Status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953512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current stage of servicing.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5566" y="160020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1693" y="1801368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2" name="Image 1" descr="/home/claude/vsbts/icons/user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853" y="19385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2726" y="25146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 Allocation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22726" y="2953512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available technicians to jobs.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22492" y="160020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38619" y="18013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2" descr="/home/claude/vsbts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779" y="19385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9652" y="25146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Spare Parts Tracking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59652" y="2953512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required &amp; available parts.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59418" y="1600200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5545" y="1801368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2" name="Image 3" descr="/home/claude/vsbts/icons/inv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705" y="19385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96578" y="2514600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Billing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96578" y="2953512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clear bills &amp; invoices.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005072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564767" y="420624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4" descr="/home/claude/vsbts/icons/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927" y="43434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5800" y="49194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Payment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85800" y="5358384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payment via Razorpay.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85566" y="4005072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401693" y="420624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2" name="Image 5" descr="/home/claude/vsbts/icons/his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8853" y="434340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22726" y="49194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History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22726" y="5358384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previous service records.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22492" y="4005072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238619" y="420624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7" name="Image 6" descr="/home/claude/vsbts/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779" y="434340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59652" y="49194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359652" y="5358384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remember future maintenance.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9059418" y="4005072"/>
            <a:ext cx="2580894" cy="2148840"/>
          </a:xfrm>
          <a:prstGeom prst="roundRect">
            <a:avLst>
              <a:gd name="adj" fmla="val 3830"/>
            </a:avLst>
          </a:prstGeom>
          <a:solidFill>
            <a:srgbClr val="E7F1F4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075545" y="420624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2" name="Image 7" descr="/home/claude/vsbts/icons/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2705" y="434340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96578" y="4919472"/>
            <a:ext cx="2306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Notifications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196578" y="5358384"/>
            <a:ext cx="2306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FCM for important updates.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49240" cy="685800"/>
          </a:xfrm>
          <a:prstGeom prst="roundRect">
            <a:avLst>
              <a:gd name="adj" fmla="val 12000"/>
            </a:avLst>
          </a:prstGeom>
          <a:solidFill>
            <a:srgbClr val="1329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349240" cy="32004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9" name="Image 0" descr="/home/claude/vsbts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378172"/>
            <a:ext cx="199705" cy="1997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5024" y="2267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easier service booking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2" name="Image 1" descr="/home/claude/vsbts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2881092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35024" y="2770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service center organization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29184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5" name="Image 2" descr="/home/claude/vsbts/icons/satell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3384012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35024" y="327355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transparency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18" name="Image 3" descr="/home/claude/vsb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3886932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35024" y="377647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1" name="Image 4" descr="/home/claude/vsbts/icons/userc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4389852"/>
            <a:ext cx="199705" cy="1997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35024" y="42793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technician utilization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4" name="Image 5" descr="/home/claude/vsbts/icons/box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4892772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35024" y="47823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spare-parts management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27" name="Image 6" descr="/home/claude/vsbts/icons/invoi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32" y="5395692"/>
            <a:ext cx="199705" cy="1997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335024" y="52852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billing &amp; payment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822960" y="580644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0" name="Image 7" descr="/home/claude/vsbts/icons/histo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132" y="5898612"/>
            <a:ext cx="199705" cy="19970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335024" y="578815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 to service history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6126480" y="1371600"/>
            <a:ext cx="5513832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126480" y="1371600"/>
            <a:ext cx="5513832" cy="6858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34" name="Shape 24"/>
          <p:cNvSpPr/>
          <p:nvPr/>
        </p:nvSpPr>
        <p:spPr>
          <a:xfrm>
            <a:off x="6126480" y="1737360"/>
            <a:ext cx="5513832" cy="32004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35" name="Text 25"/>
          <p:cNvSpPr/>
          <p:nvPr/>
        </p:nvSpPr>
        <p:spPr>
          <a:xfrm>
            <a:off x="6400800" y="1371600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36" name="Shape 26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37" name="Image 8" descr="/home/claude/vsbts/icons/rob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972" y="2378172"/>
            <a:ext cx="199705" cy="199705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12864" y="226771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service recommendations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6400800" y="279654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40" name="Image 9" descr="/home/claude/vsbts/icons/chartli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972" y="2888712"/>
            <a:ext cx="199705" cy="199705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912864" y="277825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vehicle maintenance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6400800" y="330708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43" name="Image 10" descr="/home/claude/vsbts/icons/wif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972" y="3399252"/>
            <a:ext cx="199705" cy="19970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912864" y="328879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vehicle health monitoring</a:t>
            </a:r>
            <a:endParaRPr lang="en-US" sz="1150" dirty="0"/>
          </a:p>
        </p:txBody>
      </p:sp>
      <p:sp>
        <p:nvSpPr>
          <p:cNvPr id="45" name="Shape 32"/>
          <p:cNvSpPr/>
          <p:nvPr/>
        </p:nvSpPr>
        <p:spPr>
          <a:xfrm>
            <a:off x="6400800" y="381762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46" name="Image 11" descr="/home/claude/vsbts/icons/mapmar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972" y="3909792"/>
            <a:ext cx="199705" cy="199705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912864" y="379933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vehicle / service tracking</a:t>
            </a:r>
            <a:endParaRPr lang="en-US" sz="1150" dirty="0"/>
          </a:p>
        </p:txBody>
      </p:sp>
      <p:sp>
        <p:nvSpPr>
          <p:cNvPr id="48" name="Shape 34"/>
          <p:cNvSpPr/>
          <p:nvPr/>
        </p:nvSpPr>
        <p:spPr>
          <a:xfrm>
            <a:off x="6400800" y="432816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49" name="Image 12" descr="/home/claude/vsbts/icons/mobi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972" y="4420332"/>
            <a:ext cx="199705" cy="199705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6912864" y="430987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application</a:t>
            </a:r>
            <a:endParaRPr lang="en-US" sz="1150" dirty="0"/>
          </a:p>
        </p:txBody>
      </p:sp>
      <p:sp>
        <p:nvSpPr>
          <p:cNvPr id="51" name="Shape 36"/>
          <p:cNvSpPr/>
          <p:nvPr/>
        </p:nvSpPr>
        <p:spPr>
          <a:xfrm>
            <a:off x="6400800" y="4838700"/>
            <a:ext cx="384048" cy="384048"/>
          </a:xfrm>
          <a:prstGeom prst="ellipse">
            <a:avLst/>
          </a:prstGeom>
          <a:solidFill>
            <a:srgbClr val="F3F8FA"/>
          </a:solidFill>
          <a:ln/>
        </p:spPr>
      </p:sp>
      <p:pic>
        <p:nvPicPr>
          <p:cNvPr id="52" name="Image 13" descr="/home/claude/vsbts/icons/commen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2972" y="4930872"/>
            <a:ext cx="199705" cy="199705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912864" y="482041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support chatbot</a:t>
            </a:r>
            <a:endParaRPr lang="en-US" sz="1150" dirty="0"/>
          </a:p>
        </p:txBody>
      </p:sp>
      <p:sp>
        <p:nvSpPr>
          <p:cNvPr id="54" name="Shape 38"/>
          <p:cNvSpPr/>
          <p:nvPr/>
        </p:nvSpPr>
        <p:spPr>
          <a:xfrm>
            <a:off x="6400800" y="5440680"/>
            <a:ext cx="4965192" cy="777240"/>
          </a:xfrm>
          <a:prstGeom prst="roundRect">
            <a:avLst>
              <a:gd name="adj" fmla="val 9412"/>
            </a:avLst>
          </a:prstGeom>
          <a:solidFill>
            <a:srgbClr val="F3F8FA"/>
          </a:solidFill>
          <a:ln/>
        </p:spPr>
      </p:sp>
      <p:sp>
        <p:nvSpPr>
          <p:cNvPr id="55" name="Text 39"/>
          <p:cNvSpPr/>
          <p:nvPr/>
        </p:nvSpPr>
        <p:spPr>
          <a:xfrm>
            <a:off x="6583680" y="5440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56" name="Shape 40"/>
          <p:cNvSpPr/>
          <p:nvPr/>
        </p:nvSpPr>
        <p:spPr>
          <a:xfrm>
            <a:off x="7635240" y="5577840"/>
            <a:ext cx="0" cy="502920"/>
          </a:xfrm>
          <a:prstGeom prst="line">
            <a:avLst/>
          </a:prstGeom>
          <a:noFill/>
          <a:ln w="12700">
            <a:solidFill>
              <a:srgbClr val="D7E1E6"/>
            </a:solidFill>
            <a:prstDash val="solid"/>
          </a:ln>
        </p:spPr>
      </p:sp>
      <p:sp>
        <p:nvSpPr>
          <p:cNvPr id="57" name="Text 41"/>
          <p:cNvSpPr/>
          <p:nvPr/>
        </p:nvSpPr>
        <p:spPr>
          <a:xfrm>
            <a:off x="7818120" y="5550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opportunities</a:t>
            </a:r>
            <a:endParaRPr lang="en-US" sz="1050" dirty="0"/>
          </a:p>
        </p:txBody>
      </p:sp>
      <p:sp>
        <p:nvSpPr>
          <p:cNvPr id="58" name="Text 42"/>
          <p:cNvSpPr/>
          <p:nvPr/>
        </p:nvSpPr>
        <p:spPr>
          <a:xfrm>
            <a:off x="7818120" y="580644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to extend the platform beyond phase one.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572000" cy="4572000"/>
          </a:xfrm>
          <a:prstGeom prst="ellipse">
            <a:avLst/>
          </a:prstGeom>
          <a:solidFill>
            <a:srgbClr val="CFEFF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59436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vsbts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94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45920" y="2286000"/>
            <a:ext cx="8897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Service Booking &amp; Tracking System provides a centralized platform for booking, managing, tracking and completing vehicle services — connecting customers, service centers, technicians, inventory, billing and payments in one system.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70248" y="3520440"/>
            <a:ext cx="3657600" cy="0"/>
          </a:xfrm>
          <a:prstGeom prst="line">
            <a:avLst/>
          </a:prstGeom>
          <a:noFill/>
          <a:ln w="12700">
            <a:solidFill>
              <a:srgbClr val="2549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3703320"/>
            <a:ext cx="9811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“Making Vehicle Servicing Smarter, Faster &amp; More Transparent.”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820</Words>
  <Application>Microsoft Office PowerPoint</Application>
  <PresentationFormat>Widescreen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BIRADHAR SATHISH KUMAR</cp:lastModifiedBy>
  <cp:revision>2</cp:revision>
  <dcterms:created xsi:type="dcterms:W3CDTF">2026-08-19T09:12:24Z</dcterms:created>
  <dcterms:modified xsi:type="dcterms:W3CDTF">2026-08-19T09:19:10Z</dcterms:modified>
</cp:coreProperties>
</file>